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93C5FD"/>
                </a:solidFill>
              </a:defRPr>
            </a:pPr>
            <a:r>
              <a:t>LLM101 — Build Your LLM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CBD5E1"/>
                </a:solidFill>
              </a:defRPr>
            </a:pPr>
            <a:r>
              <a:t>A 12-step tour of building a ~15M-parameter GPT-style transformer in ~800 lines of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4A3B8"/>
                </a:solidFill>
              </a:defRPr>
            </a:pPr>
            <a:r>
              <a:t>RMSNorm · RoPE · SwiGLU · Causal Self-Attention · Weight Tying · KV Cache · BPE Tokenizer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1 · Pin the hyperparameters — config.py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Start here, not at model.py. A single dataclass owning every tunable keeps the rest of the code uncluttered and reproducibility mechanical.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Non-obvious choice: vocab_size starts at 0. Every script that builds the model must set config.vocab_size = tokenizer.vocab_size before instantiation. This avoids hardcoding and keeps the tokenizer and model coupled through a single variable.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Derived values live in @property, with assertions that catch misconfiguration at access time rather than during a forward pass.</a:t>
            </a:r>
          </a:p>
        </p:txBody>
      </p:sp>
      <p:pic>
        <p:nvPicPr>
          <p:cNvPr id="5" name="Picture 4" descr="step_01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758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2 · Byte-level BPE tokenizer — tokenizer.py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BPE from scratch in ~200 lines. Byte-level means the base vocab is always 256 (every possible byte), so any UTF-8 text round-trips losslessly — no &lt;UNK&gt; explosion on new characters.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Vocabulary layout: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  0-3     : &lt;PAD&gt;, &lt;BOS&gt;, &lt;EOS&gt;, &lt;UNK&gt;  (4 specials)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  4-259   : raw bytes 0x00-0xFF         (256 base)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  260+    : learned BPE merges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Gotcha: A corpus of 'hello world' * 100 collapses into a single token after ~10 merges. BPE tests need real variation.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3 · Sliding-window dataset — dataset.py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Turns a token stream into (input_ids, targets) pairs where targets = input_ids shifted +1. This is the core causal-LM training invariant.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Default stride is seq_len // 2 (50% overlap). Non-overlap gives cleaner evaluation but halves the sample count.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Tested by an invariant: target[:-1] == input[1:].</a:t>
            </a:r>
          </a:p>
        </p:txBody>
      </p:sp>
      <p:pic>
        <p:nvPicPr>
          <p:cNvPr id="5" name="Picture 4" descr="step_03_slid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690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4 · The Transformer block — model.py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Build bottom-up: RMSNorm → RoPE → Attention → SwiGLU → Block.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Pre-Norm (normalize before the sublayer, add residual after) keeps deep stacks stable without learning-rate warmup knife-edge. Modern LLMs all use this pattern.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Weight tying: self.lm_head.weight = self.token_emb.weight — not a copy, the SAME tensor. Test with 'is' not torch.equal.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GPT-2 residual-projection init: scale by 1/√(2·n_layers) to keep activation variance stable as depth grows.</a:t>
            </a:r>
          </a:p>
        </p:txBody>
      </p:sp>
      <p:pic>
        <p:nvPicPr>
          <p:cNvPr id="5" name="Picture 4" descr="step_04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3416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5 · Training loop — train.py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The ingredients, in descending order of impact: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1. bf16 mixed precision on Ampere+ — 2× speedup, basically free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2. AdamW with weight-decay groups — decay on 2D weights only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3. Linear warmup → cosine decay to 10% of peak LR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4. Grad clip 1.0 — cheap insurance against loss spikes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5. Val split is sequential 90/10 — random split leaks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6. 'Best' checkpoint on val loss, not train loss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At the end, dump loss_curve.png — students can SEE the train/val gap open up. That IS overfitting.</a:t>
            </a:r>
          </a:p>
        </p:txBody>
      </p:sp>
      <p:pic>
        <p:nvPicPr>
          <p:cNvPr id="5" name="Picture 4" descr="step_05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651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6 · Autoregressive generation (naive)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Forward the full context, sample from last-position logits, append, repeat.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The sampling filter (temperature → top-k → top-p) is shared between generate(), generate_fast(), and teach.py's sampling rollout — one source of truth: _sample_from_logits().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The scatter at the end of top-p looks fragile but is correct: sorted_idx is a permutation over ALL vocab positions, so every slot is written.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7 · KV cache — generate_fast()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Without a cache, every decode step recomputes Q, K, V for the entire context. With a cache, keep K, V from prior steps and only compute for the new token. Cost: O(total_len) instead of O(total_len²).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Two invariants easy to miss: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• RoPE offset: new token's angle must use start_pos = past_len, not 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• Causal mask: applied during prefill (T&gt;1), skipped during decode (T=1)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Correctness test: prefill(prompt) then 1-step decode must match a full forward. max |Δlogit| &lt; 1e-4.</a:t>
            </a:r>
          </a:p>
        </p:txBody>
      </p:sp>
      <p:pic>
        <p:nvPicPr>
          <p:cNvPr id="5" name="Picture 4" descr="step_07_kv_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798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8 · Teaching hooks — teach.py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Capture intermediate tensors via forward hooks without modifying model.py.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block.attn.register_forward_pre_hook(attn_hook)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def attn_hook(module, inp):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    x = inp[0]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    # Recompute Q, K, V, scores, weights from 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    store['attn_weights'] = ...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The alternative — sprinkling return_attention=True kwargs through production code — poisons model.py. Hooks keep teaching instrumentation strictly orthogonal.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Re-render on-the-fly: the whole point is that changing the prompt flips the attention.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9 · Attention visualisation — visualise.py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Two things worth rendering: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1. Per-head heatmap — attn_weights[layer][0, head], shape (T, T), viridis colormap, row = query, column = key.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2. Attention rollout (Abnar &amp; Zuidema 2020) — multiply attention matrices across all layers to see effective attention flow. More interpretable than any single layer.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Both are in the Attention tab. Pick any prompt + layer + head to see the heatmap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10 · Gradio web UI — app.py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A single browser app as the webinar entrypoint. All handlers import and call existing functions — no logic re-implemented.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Two Gradio patterns worth learning: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1. Streaming via yield — a generator handler gives per-token typewriter output for free.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2. Module-level singletons + monkeypatch for tests — load the model once at startup; tests inject a tiny model. No I/O, sub-second UI smoke tests.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Version pin: gradio&gt;=5,&lt;6 (4.44.x has a schema-introspection bug).</a:t>
            </a:r>
          </a:p>
        </p:txBody>
      </p:sp>
      <p:pic>
        <p:nvPicPr>
          <p:cNvPr id="5" name="Picture 4" descr="step_10_ui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6743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11 · Test suite — tests/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55 tests, CPU-only, ~15s end-to-end.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Highest-value tests guard invariants rather than shapes: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• test_kv_cache_matches_full_pass → RoPE start_pos invariant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• test_causal_mask_no_future_leakage → perturbing token T-1 leaves earlier logits unchanged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• test_weight_tying → 'is'-check: lm_head.weight and token_emb.weight are the SAME tensor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• test_training_step_reduces_loss_on_tiny_overfit → end-to-end backward/optimizer moves parameters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Invariant tests survive refactoring. Shape tests get rewritten every time.</a:t>
            </a:r>
          </a:p>
        </p:txBody>
      </p:sp>
      <p:pic>
        <p:nvPicPr>
          <p:cNvPr id="5" name="Picture 4" descr="step_11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17478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12 · Ship it — run.sh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Commands unified through one bash dispatcher: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setup       # venv + torch + TinyShakespeare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verify      # model.py sanity check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train       # full training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generate --fast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benchmark   # generate vs generate_fast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teach       # 16 static PNGs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visualise   # attention heatmaps + rollout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ui          # Gradio webinar console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bash run.sh test        # pytest suite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CBD5E1"/>
                </a:solidFill>
              </a:defRPr>
            </a:pPr>
            <a:r>
              <a:t>Explicit subcommands &gt; magic auto-detection. A new user running bash run.sh with no arg gets a helpful usage message.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93C5FD"/>
                </a:solidFill>
              </a:defRPr>
            </a:pPr>
            <a:r>
              <a:t>Hyperparameter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CBD5E1"/>
                </a:solidFill>
              </a:defRPr>
            </a:pPr>
            <a:r>
              <a:t>How each training hyperparameter shapes the loss curve — schematic charts based on standard ML literature and observed behavior on small transformers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Effect of max_epochs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Train loss drops monotonically. Val loss hits a minimum then rises. The gap between them is your overfitting signal — the wider the gap, the more your model is memorizing rather than generalizing. "Best val" gives you the ideal number of epochs for this data.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Rules of thumb: on TinyShakespeare, expect sweet-spot around epoch 8-12; by epoch 20+ overfitting dominates.</a:t>
            </a:r>
          </a:p>
        </p:txBody>
      </p:sp>
      <p:pic>
        <p:nvPicPr>
          <p:cNvPr id="5" name="Picture 4" descr="effect_max_epoc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36829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Effect of batch_size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Larger batch = smoother gradient + fewer updates per epoch + linear memory cost. Small batches (bs=8) are noisy but train in less wall-clock time; large batches (bs=128) are stable but may need more epochs to match. Final loss is roughly equal across reasonable batch sizes.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Rules of thumb: pick the largest batch that fits in VRAM, then tune learning rate to match (bigger batch → slightly higher LR).</a:t>
            </a:r>
          </a:p>
        </p:txBody>
      </p:sp>
      <p:pic>
        <p:nvPicPr>
          <p:cNvPr id="5" name="Picture 4" descr="effect_batch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8921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Effect of learning_rate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Too small → loss barely drops in your step budget. Too big → loss diverges, possibly NaNs. There's a sweet spot where convergence is fast and stable.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Rules of thumb: for AdamW with warmup + cosine schedule, 1e-4 to 3e-4 works for most small transformers. If loss explodes, halve the LR. If loss drops slowly, double it.</a:t>
            </a:r>
          </a:p>
        </p:txBody>
      </p:sp>
      <p:pic>
        <p:nvPicPr>
          <p:cNvPr id="5" name="Picture 4" descr="effect_learning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32519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Effect of dropout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Dropout is a bias-variance knob. With dropout=0, the model fits training data tightly but generalizes poorly — train and val diverge. With high dropout (&gt;0.4), the model can't fit even the training data. The valley between is where val loss is lowest.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Rules of thumb: start at 0.1 for small datasets, 0.2-0.3 if you see a growing train/val gap.</a:t>
            </a:r>
          </a:p>
        </p:txBody>
      </p:sp>
      <p:pic>
        <p:nvPicPr>
          <p:cNvPr id="5" name="Picture 4" descr="effect_dr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36748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93C5FD"/>
                </a:solidFill>
              </a:defRPr>
            </a:pPr>
            <a:r>
              <a:t>Effect of warmup_steps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The LR schedule is linear warmup → cosine decay. If `warmup_steps` is too large a fraction of total_steps (the `200/480 = 42%` case you just hit), the model barely gets any time at peak LR and learns slowly. Short warmup gives the model more peak-LR training time.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CBD5E1"/>
                </a:solidFill>
              </a:defRPr>
            </a:pPr>
            <a:r>
              <a:t>Rules of thumb: warmup ≈ 5-10% of total steps. The auto-scale in `train_iter` now enforces this automatically when you leave the slider at 0.</a:t>
            </a:r>
          </a:p>
        </p:txBody>
      </p:sp>
      <p:pic>
        <p:nvPicPr>
          <p:cNvPr id="5" name="Picture 4" descr="effect_warmup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5943600" cy="2462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